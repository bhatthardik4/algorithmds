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6e3e29fae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6e3e29fae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56e3e29fae_0_1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56e3e29fae_0_1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56e3e29fae_0_1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56e3e29fae_0_1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6e3e29fae_0_1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6e3e29fae_0_1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6e3e29fae_0_2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56e3e29fae_0_2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56e3e29fae_0_2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56e3e29fae_0_2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56e3e29fae_0_1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56e3e29fae_0_1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6e3e29fae_0_1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6e3e29fae_0_1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56e3e29fae_0_2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56e3e29fae_0_2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56e3e29fae_0_1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56e3e29fae_0_1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56e3e29fae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56e3e29fae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6e3e29fae_0_2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6e3e29fae_0_2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6e3e29fae_0_1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6e3e29fae_0_1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0" y="2571754"/>
            <a:ext cx="53613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790">
                <a:solidFill>
                  <a:srgbClr val="000000"/>
                </a:solidFill>
              </a:rPr>
              <a:t>Predicting Cancer Stage Using Machine Learning</a:t>
            </a:r>
            <a:br>
              <a:rPr lang="en-GB" sz="1190">
                <a:solidFill>
                  <a:srgbClr val="000000"/>
                </a:solidFill>
              </a:rPr>
            </a:br>
            <a:br>
              <a:rPr b="1" lang="en-GB" sz="1190">
                <a:solidFill>
                  <a:srgbClr val="000000"/>
                </a:solidFill>
              </a:rPr>
            </a:br>
            <a:br>
              <a:rPr lang="en-GB" sz="1190">
                <a:solidFill>
                  <a:srgbClr val="000000"/>
                </a:solidFill>
              </a:rPr>
            </a:br>
            <a:r>
              <a:rPr lang="en-GB" sz="1690">
                <a:solidFill>
                  <a:srgbClr val="000000"/>
                </a:solidFill>
              </a:rPr>
              <a:t> </a:t>
            </a:r>
            <a:r>
              <a:rPr b="1" lang="en-GB" sz="1690">
                <a:solidFill>
                  <a:srgbClr val="000000"/>
                </a:solidFill>
              </a:rPr>
              <a:t>Presented by:</a:t>
            </a:r>
            <a:r>
              <a:rPr lang="en-GB" sz="1690">
                <a:solidFill>
                  <a:srgbClr val="000000"/>
                </a:solidFill>
              </a:rPr>
              <a:t> Hardik Bhatt</a:t>
            </a:r>
            <a:br>
              <a:rPr lang="en-GB" sz="1690">
                <a:solidFill>
                  <a:srgbClr val="000000"/>
                </a:solidFill>
              </a:rPr>
            </a:br>
            <a:r>
              <a:rPr lang="en-GB" sz="1690">
                <a:solidFill>
                  <a:srgbClr val="000000"/>
                </a:solidFill>
              </a:rPr>
              <a:t> </a:t>
            </a:r>
            <a:r>
              <a:rPr b="1" lang="en-GB" sz="1690">
                <a:solidFill>
                  <a:srgbClr val="000000"/>
                </a:solidFill>
              </a:rPr>
              <a:t>Date:</a:t>
            </a:r>
            <a:r>
              <a:rPr lang="en-GB" sz="1690">
                <a:solidFill>
                  <a:srgbClr val="000000"/>
                </a:solidFill>
              </a:rPr>
              <a:t> 1st May 2025</a:t>
            </a:r>
            <a:endParaRPr sz="169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8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idx="1" type="body"/>
          </p:nvPr>
        </p:nvSpPr>
        <p:spPr>
          <a:xfrm>
            <a:off x="1100350" y="10799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Motivation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Cancer is a leading cause of death globally.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Early-stage detection is vital but often costly and slow.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</a:t>
            </a: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Predict a patient’s cancer stage using basic features (age, lifestyle, environment).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idx="1" type="body"/>
          </p:nvPr>
        </p:nvSpPr>
        <p:spPr>
          <a:xfrm>
            <a:off x="1164600" y="10906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770"/>
              <a:buNone/>
            </a:pPr>
            <a:r>
              <a:rPr b="1" lang="en-GB" sz="141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 Overview</a:t>
            </a:r>
            <a:endParaRPr b="1" sz="141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b="1"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global_cancer_patients_2015_2024.csv</a:t>
            </a:r>
            <a:br>
              <a:rPr lang="en-GB" sz="12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27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b="1"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Rows:</a:t>
            </a:r>
            <a: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50,000 patients</a:t>
            </a:r>
            <a:b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b="1"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Features:</a:t>
            </a:r>
            <a:br>
              <a:rPr b="1"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○"/>
            </a:pPr>
            <a: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Demographics (Age, Gender, Country)</a:t>
            </a:r>
            <a:b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○"/>
            </a:pPr>
            <a: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Lifestyle (Smoking, Alcohol, Obesity)</a:t>
            </a:r>
            <a:b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○"/>
            </a:pPr>
            <a: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 (Air Pollution)</a:t>
            </a:r>
            <a:b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4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○"/>
            </a:pPr>
            <a: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Genetic Risk</a:t>
            </a:r>
            <a:b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24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Arial"/>
              <a:buChar char="●"/>
            </a:pPr>
            <a:r>
              <a:rPr b="1"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Target:</a:t>
            </a:r>
            <a: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sz="127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Cancer_Stage</a:t>
            </a:r>
            <a:r>
              <a:rPr lang="en-GB" sz="12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(Stage 0 to Stage IV)</a:t>
            </a:r>
            <a:endParaRPr sz="12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41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>
            <p:ph idx="1" type="body"/>
          </p:nvPr>
        </p:nvSpPr>
        <p:spPr>
          <a:xfrm>
            <a:off x="1153900" y="12512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This Question Matters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Diagnostic delays can lead to higher mortality.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Predictive models can triage, prioritize, and educate patients early.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Clinically interpretable features like age and obesity are routinely collected.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idx="1" type="body"/>
          </p:nvPr>
        </p:nvSpPr>
        <p:spPr>
          <a:xfrm>
            <a:off x="1056750" y="10478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n-GB" sz="13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b="1" sz="131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AutoNum type="arabicPeriod"/>
            </a:pPr>
            <a:r>
              <a:rPr b="1"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Preprocessing:</a:t>
            </a:r>
            <a:br>
              <a:rPr b="1"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00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Char char="○"/>
            </a:pPr>
            <a:r>
              <a:rPr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 encoding for categories</a:t>
            </a:r>
            <a:br>
              <a:rPr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00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Char char="○"/>
            </a:pPr>
            <a:r>
              <a:rPr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scaling for numeric feature</a:t>
            </a:r>
            <a:br>
              <a:rPr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AutoNum type="arabicPeriod"/>
            </a:pPr>
            <a:r>
              <a:rPr b="1"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Exploratory Data Analysis</a:t>
            </a:r>
            <a:endParaRPr b="1" sz="11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AutoNum type="arabicPeriod"/>
            </a:pPr>
            <a:r>
              <a:rPr b="1"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Train/Test Split:</a:t>
            </a:r>
            <a:r>
              <a:rPr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80/20</a:t>
            </a:r>
            <a:br>
              <a:rPr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0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AutoNum type="arabicPeriod"/>
            </a:pPr>
            <a:r>
              <a:rPr b="1"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Models Used:</a:t>
            </a:r>
            <a:br>
              <a:rPr b="1"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00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Char char="○"/>
            </a:pPr>
            <a:r>
              <a:rPr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 (Baseline)</a:t>
            </a:r>
            <a:br>
              <a:rPr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00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88"/>
              <a:buFont typeface="Arial"/>
              <a:buChar char="○"/>
            </a:pPr>
            <a:r>
              <a:rPr b="1"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r>
              <a:rPr lang="en-GB" sz="118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(Proposed)</a:t>
            </a:r>
            <a:endParaRPr sz="118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1312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8" title="Screenshot 2025-05-01 at 7.22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399" y="452200"/>
            <a:ext cx="5016025" cy="40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title="Screenshot 2025-05-01 at 7.25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550" y="529150"/>
            <a:ext cx="6518226" cy="408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1056750" y="8765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Evaluation Metrics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Accuracy:</a:t>
            </a: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Overall correctness</a:t>
            </a:r>
            <a:b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 Score:</a:t>
            </a: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Balance between precision &amp; recall</a:t>
            </a:r>
            <a:b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Confusion Matrix:</a:t>
            </a:r>
            <a:r>
              <a:rPr lang="en-GB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Breakdown of prediction errors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1" title="Screenshot 2025-04-30 at 4.02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550" y="244700"/>
            <a:ext cx="5332226" cy="461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/>
        </p:nvSpPr>
        <p:spPr>
          <a:xfrm>
            <a:off x="5953225" y="1060025"/>
            <a:ext cx="2559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(BASELINE)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2" title="Screenshot 2025-04-30 at 4.02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725" y="284200"/>
            <a:ext cx="5353624" cy="455714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 txBox="1"/>
          <p:nvPr/>
        </p:nvSpPr>
        <p:spPr>
          <a:xfrm>
            <a:off x="6338700" y="1134975"/>
            <a:ext cx="24093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(PROPOSED)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idx="1" type="body"/>
          </p:nvPr>
        </p:nvSpPr>
        <p:spPr>
          <a:xfrm>
            <a:off x="1153900" y="910125"/>
            <a:ext cx="7030500" cy="25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Real-World Impact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Speeds up triage in rural clinics</a:t>
            </a:r>
            <a:b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diagnostic delays</a:t>
            </a:r>
            <a:b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Cost-effective preliminary screening</a:t>
            </a:r>
            <a:b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to national cancer registries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1207425" y="11441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Limitations &amp; Future Work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 miss rare cancer types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Depends on quality of patient data</a:t>
            </a:r>
            <a:b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-GB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Next: Add time series, treatment outcome prediction, survival models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712075" y="642425"/>
            <a:ext cx="7505700" cy="376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make the model user-friendly, we can deploy it using:</a:t>
            </a:r>
            <a:endParaRPr sz="53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86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-GB" sz="5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r>
              <a:rPr lang="en-GB" sz="5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(for a web UI)</a:t>
            </a:r>
            <a:endParaRPr sz="53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3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55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Package and Share</a:t>
            </a:r>
            <a:endParaRPr b="1" sz="55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5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Share:</a:t>
            </a:r>
            <a:endParaRPr sz="53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86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530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model.pkl</a:t>
            </a:r>
            <a:br>
              <a:rPr lang="en-GB" sz="530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5308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286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530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predict.py</a:t>
            </a:r>
            <a:r>
              <a:rPr lang="en-GB" sz="5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-GB" sz="530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app.py</a:t>
            </a:r>
            <a:br>
              <a:rPr lang="en-GB" sz="530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5308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286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530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requirements.txt</a:t>
            </a:r>
            <a:r>
              <a:rPr lang="en-GB" sz="5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(dependencies)</a:t>
            </a:r>
            <a:br>
              <a:rPr lang="en-GB" sz="5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53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2868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-GB" sz="530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README.md</a:t>
            </a:r>
            <a:r>
              <a:rPr lang="en-GB" sz="53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(instructions)</a:t>
            </a:r>
            <a:endParaRPr sz="53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1143200" y="13009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Q&amp;A</a:t>
            </a:r>
            <a:endParaRPr b="1"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“Thank you! I’m happy to take your questions.”</a:t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